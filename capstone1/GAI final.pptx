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1" r:id="rId2"/>
    <p:sldId id="256" r:id="rId3"/>
    <p:sldId id="257" r:id="rId4"/>
    <p:sldId id="263" r:id="rId5"/>
    <p:sldId id="268" r:id="rId6"/>
    <p:sldId id="262" r:id="rId7"/>
    <p:sldId id="258" r:id="rId8"/>
    <p:sldId id="259" r:id="rId9"/>
    <p:sldId id="264" r:id="rId10"/>
    <p:sldId id="266" r:id="rId11"/>
    <p:sldId id="267" r:id="rId12"/>
    <p:sldId id="260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BAE6FA-7F39-4357-8FB0-7970E37621EE}" v="6" dt="2026-09-04T08:08:01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teja reddy pucha" userId="8d180d62b1636f7b" providerId="LiveId" clId="{B84EF6A6-70E3-447E-AC2A-5334D7E84887}"/>
    <pc:docChg chg="undo custSel addSld modSld">
      <pc:chgData name="saiteja reddy pucha" userId="8d180d62b1636f7b" providerId="LiveId" clId="{B84EF6A6-70E3-447E-AC2A-5334D7E84887}" dt="2026-09-04T08:08:09.472" v="15" actId="255"/>
      <pc:docMkLst>
        <pc:docMk/>
      </pc:docMkLst>
      <pc:sldChg chg="addSp delSp modSp new mod">
        <pc:chgData name="saiteja reddy pucha" userId="8d180d62b1636f7b" providerId="LiveId" clId="{B84EF6A6-70E3-447E-AC2A-5334D7E84887}" dt="2026-09-04T08:08:09.472" v="15" actId="255"/>
        <pc:sldMkLst>
          <pc:docMk/>
          <pc:sldMk cId="3508949344" sldId="268"/>
        </pc:sldMkLst>
        <pc:spChg chg="add mod">
          <ac:chgData name="saiteja reddy pucha" userId="8d180d62b1636f7b" providerId="LiveId" clId="{B84EF6A6-70E3-447E-AC2A-5334D7E84887}" dt="2026-09-04T08:01:13.987" v="9" actId="255"/>
          <ac:spMkLst>
            <pc:docMk/>
            <pc:sldMk cId="3508949344" sldId="268"/>
            <ac:spMk id="2" creationId="{B1103884-7E0E-198D-A358-92FBC55F2018}"/>
          </ac:spMkLst>
        </pc:spChg>
        <pc:graphicFrameChg chg="add mod modGraphic">
          <ac:chgData name="saiteja reddy pucha" userId="8d180d62b1636f7b" providerId="LiveId" clId="{B84EF6A6-70E3-447E-AC2A-5334D7E84887}" dt="2026-09-04T08:08:09.472" v="15" actId="255"/>
          <ac:graphicFrameMkLst>
            <pc:docMk/>
            <pc:sldMk cId="3508949344" sldId="268"/>
            <ac:graphicFrameMk id="5" creationId="{E792BA75-F66C-3311-D0DE-7439FACAB025}"/>
          </ac:graphicFrameMkLst>
        </pc:graphicFrameChg>
        <pc:picChg chg="add del">
          <ac:chgData name="saiteja reddy pucha" userId="8d180d62b1636f7b" providerId="LiveId" clId="{B84EF6A6-70E3-447E-AC2A-5334D7E84887}" dt="2026-09-04T08:00:48.386" v="3" actId="22"/>
          <ac:picMkLst>
            <pc:docMk/>
            <pc:sldMk cId="3508949344" sldId="268"/>
            <ac:picMk id="4" creationId="{9CAA719E-8962-8800-AF61-0D8722137F7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985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4773E7-CE97-DAFC-BE69-68F8D81A42FD}"/>
              </a:ext>
            </a:extLst>
          </p:cNvPr>
          <p:cNvSpPr txBox="1"/>
          <p:nvPr/>
        </p:nvSpPr>
        <p:spPr>
          <a:xfrm>
            <a:off x="1071769" y="1679713"/>
            <a:ext cx="10478547" cy="1420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 Generative AI-Enabled Multimodal Medical Report Explainer </a:t>
            </a: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Improving Patient Comprehension and Clinical Decision Support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A084C1-2FDC-C0EB-EF63-7DAB59E96BA4}"/>
              </a:ext>
            </a:extLst>
          </p:cNvPr>
          <p:cNvSpPr txBox="1"/>
          <p:nvPr/>
        </p:nvSpPr>
        <p:spPr>
          <a:xfrm>
            <a:off x="3158986" y="3572977"/>
            <a:ext cx="5874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CSA6502-GENERATIVE AI FOR LARGE SCALE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8F3EA-A227-64E7-6D2F-B97CA97B7C03}"/>
              </a:ext>
            </a:extLst>
          </p:cNvPr>
          <p:cNvSpPr txBox="1"/>
          <p:nvPr/>
        </p:nvSpPr>
        <p:spPr>
          <a:xfrm>
            <a:off x="725557" y="5049078"/>
            <a:ext cx="2792895" cy="66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FEDCA-2ECE-F189-AAE3-E195A222AD2C}"/>
              </a:ext>
            </a:extLst>
          </p:cNvPr>
          <p:cNvSpPr txBox="1"/>
          <p:nvPr/>
        </p:nvSpPr>
        <p:spPr>
          <a:xfrm>
            <a:off x="877957" y="5201478"/>
            <a:ext cx="2792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Nithisha J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152C2-222C-4AF2-6149-810788D7B3EF}"/>
              </a:ext>
            </a:extLst>
          </p:cNvPr>
          <p:cNvSpPr txBox="1"/>
          <p:nvPr/>
        </p:nvSpPr>
        <p:spPr>
          <a:xfrm>
            <a:off x="8156714" y="5353877"/>
            <a:ext cx="2792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. Venkata Karthik Reddy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V Sai Teja Reddy</a:t>
            </a:r>
          </a:p>
        </p:txBody>
      </p:sp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D81FCA45-AAAF-D079-61F3-5DD55B1DA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69" y="268145"/>
            <a:ext cx="9717932" cy="11096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06731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INTRODUCTION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829800" y="960120"/>
            <a:ext cx="1645920" cy="1645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/home/claude/deck/icon_steth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770" y="1174090"/>
            <a:ext cx="1217981" cy="12179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1195" y="226314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it is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AI pipeline that reads lab, radiology, and discharge reports and explains them in plain language.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111195" y="3367994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it works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 processing extracts structured data; generative AI turns it into patient-friendly, multimodal explanations.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111195" y="4472848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Who it helps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patients gain clarity and confidence; clinicians gain a decision-support layer alongside their own judgment.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19" y="502920"/>
            <a:ext cx="71770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Patients struggle to understand their own medical reports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54480" y="192938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Dense clinical jargon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 results, radiology and pathology reports use technical terminology most patients cannot interpret without help.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54480" y="298094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 clinician time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doctors have only minutes per visit to explain findings, leaving many questions unanswered after the appointment.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554480" y="4032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One-size-fits-all format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reports are text-only and static, with no adaptation to a patient's language, literacy level, or preferred modality.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19" y="502920"/>
            <a:ext cx="71770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Goals of the proposed generative AI explainer pipeline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54480" y="192938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Data Extraction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OCR and named-entity recognition to convert scanned lab, radiology, and discharge reports into structured, standardized clinical data (ICD-10, LOINC).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54480" y="298094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Plain-Language Explanation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generative AI to translate clinical findings into jargon-free explanations tailored to a patient's literacy level and language.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554480" y="4032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Multimodal, Accessible Delivery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 explanations as text, annotated visuals, and voice narration so patients can engage in their preferred format.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1554480" y="50840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 Clinical Decision Support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surface abnormal values and follow-up questions while keeping clinicians in the loop through guardrails and validation checks.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103884-7E0E-198D-A358-92FBC55F2018}"/>
              </a:ext>
            </a:extLst>
          </p:cNvPr>
          <p:cNvSpPr txBox="1"/>
          <p:nvPr/>
        </p:nvSpPr>
        <p:spPr>
          <a:xfrm>
            <a:off x="1483567" y="858416"/>
            <a:ext cx="7343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92BA75-F66C-3311-D0DE-7439FACAB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390155"/>
              </p:ext>
            </p:extLst>
          </p:nvPr>
        </p:nvGraphicFramePr>
        <p:xfrm>
          <a:off x="838200" y="1825625"/>
          <a:ext cx="9960361" cy="46454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80362">
                  <a:extLst>
                    <a:ext uri="{9D8B030D-6E8A-4147-A177-3AD203B41FA5}">
                      <a16:colId xmlns:a16="http://schemas.microsoft.com/office/drawing/2014/main" val="1044663290"/>
                    </a:ext>
                  </a:extLst>
                </a:gridCol>
                <a:gridCol w="1371391">
                  <a:extLst>
                    <a:ext uri="{9D8B030D-6E8A-4147-A177-3AD203B41FA5}">
                      <a16:colId xmlns:a16="http://schemas.microsoft.com/office/drawing/2014/main" val="3578243881"/>
                    </a:ext>
                  </a:extLst>
                </a:gridCol>
                <a:gridCol w="2578215">
                  <a:extLst>
                    <a:ext uri="{9D8B030D-6E8A-4147-A177-3AD203B41FA5}">
                      <a16:colId xmlns:a16="http://schemas.microsoft.com/office/drawing/2014/main" val="3587199940"/>
                    </a:ext>
                  </a:extLst>
                </a:gridCol>
                <a:gridCol w="2358793">
                  <a:extLst>
                    <a:ext uri="{9D8B030D-6E8A-4147-A177-3AD203B41FA5}">
                      <a16:colId xmlns:a16="http://schemas.microsoft.com/office/drawing/2014/main" val="3845515861"/>
                    </a:ext>
                  </a:extLst>
                </a:gridCol>
                <a:gridCol w="2971600">
                  <a:extLst>
                    <a:ext uri="{9D8B030D-6E8A-4147-A177-3AD203B41FA5}">
                      <a16:colId xmlns:a16="http://schemas.microsoft.com/office/drawing/2014/main" val="4258471943"/>
                    </a:ext>
                  </a:extLst>
                </a:gridCol>
              </a:tblGrid>
              <a:tr h="270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Research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Methods /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Key 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913538"/>
                  </a:ext>
                </a:extLst>
              </a:tr>
              <a:tr h="920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Jeblick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ChatGPT for Simplified Radiology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ChatGPT, text simplification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Improved patient understanding of complex radiology reports.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845426"/>
                  </a:ext>
                </a:extLst>
              </a:tr>
              <a:tr h="686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Lyu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Translating Radiology Reports into Plain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GPT-4, prompt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Generated patient-friendly medical explanations while highlighting factual-error risks.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0261902"/>
                  </a:ext>
                </a:extLst>
              </a:tr>
              <a:tr h="920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Luo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ReXplain: Patient-Friendly Radiology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LLM, image segmentation, 3D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Combined medical images and text to create multimodal patient explanations.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833027"/>
                  </a:ext>
                </a:extLst>
              </a:tr>
              <a:tr h="686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Hartsock &amp; Rasool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Vision-Language Models in Healthcare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VLMs, Transformers, medical VQA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Demonstrated the potential of multimodal AI for medical image and text understanding.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028794"/>
                  </a:ext>
                </a:extLst>
              </a:tr>
              <a:tr h="686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Singhal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Expert-Level Medical Question Answering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Med-PaLM 2, LLM, medical 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Showed the potential of medical LLMs for clinical information and decision support.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822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8949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E1D85B-8E03-4783-0D5E-ADCAF5F29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028899"/>
            <a:ext cx="10287000" cy="58291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CFAD6A-D440-92AC-0000-CEB61D08356D}"/>
              </a:ext>
            </a:extLst>
          </p:cNvPr>
          <p:cNvSpPr txBox="1"/>
          <p:nvPr/>
        </p:nvSpPr>
        <p:spPr>
          <a:xfrm>
            <a:off x="3482501" y="321013"/>
            <a:ext cx="4990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0244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1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899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Medical Report Processing Module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Converts raw, unstructured clinical documents into clean, structured medical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4984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08760" y="213055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Ingest Report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accepts scanned PDFs, images, and typed reports (labs, radiology, discharge summaries).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508760" y="3063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OCR &amp; Text Extraction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extracts raw text and key-value fields using OCR and layout-aware parsing.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508760" y="3995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Structuring &amp; NER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named-entity recognition tags diagnoses, medications, values, and reference ranges.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508760" y="49286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Terminology Normalization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maps extracted terms to standard codes (ICD-10, LOINC) for consistency.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2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822959"/>
            <a:ext cx="10698480" cy="90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Generative AI-Based Patient Explanation &amp; Decision Support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0107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Turns structured clinical data into clear, multimodal explanations and actionable guidance.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08760" y="224942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Plain-Language Explanation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LLM rewrites clinical findings into simple, jargon-free language tailored to patient literacy level and preferred language.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08760" y="3273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Multimodal Delivery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explanations delivered as text, annotated visuals/diagrams, and voice narration for accessibility.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508760" y="42976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Clinical Decision Support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highlights abnormal values, suggested next steps, and questions to raise with the physician.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508760" y="532180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Safety &amp; Validation Layer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guardrails and clinician-in-the-loop review ensure explanations stay accurate, non-diagnostic, and safe.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TOOLS &amp; TECHNIQUES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822959"/>
            <a:ext cx="10698480" cy="90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Key Technologies Powering the Pipeline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0107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Combines document AI, generative language models, and multimodal delivery across both modules.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08760" y="224942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 AI &amp; OCR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layout-aware OCR and document parsing extract raw text and key-value fields from scanned lab, radiology, and discharge reports.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08760" y="3273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NLP &amp; Terminology Normalization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clinical named-entity recognition tags diagnoses and values, mapped to standard ICD-10 and LOINC codes.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508760" y="42976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Generative AI / LLMs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GPT-4-class and fine-tuned language models rewrite findings in plain language and power the decision-support layer.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508760" y="532180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Multimodal &amp; Evaluation Tools —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text-to-speech narration, diagram generation, retrieval-augmented grounding, and readability metrics for validation.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C9B51-E673-307E-DBD7-06E5A6D24A05}"/>
              </a:ext>
            </a:extLst>
          </p:cNvPr>
          <p:cNvSpPr txBox="1"/>
          <p:nvPr/>
        </p:nvSpPr>
        <p:spPr>
          <a:xfrm>
            <a:off x="1166327" y="737118"/>
            <a:ext cx="4040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PUT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C7D53-8578-861C-047D-FB95DDEE9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64770"/>
            <a:ext cx="5561045" cy="39284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244464-516D-6A08-2EE6-04F94DCAE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044" y="1464771"/>
            <a:ext cx="6630955" cy="392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421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8CA210-5412-5A71-C23F-C589C081A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4" y="1408922"/>
            <a:ext cx="5764923" cy="4030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6D818D-A8CA-72F9-760F-24C40B314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418" y="1408922"/>
            <a:ext cx="6290087" cy="403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044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confusing reports to confident patients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7" name="Image 0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23911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76856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Combines document AI (Module 1) with generative explanation and decision support (Module 2) in one pipeline.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0" y="3227832"/>
            <a:ext cx="457200" cy="457200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10" name="Image 1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287268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17296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Improves patient comprehension, health literacy, and engagement in their own care.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31520" y="4123944"/>
            <a:ext cx="457200" cy="457200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13" name="Image 2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4183380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069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Supports clinician judgment, with built-in safety and validation checks.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31520" y="5020056"/>
            <a:ext cx="457200" cy="457200"/>
          </a:xfrm>
          <a:prstGeom prst="ellipse">
            <a:avLst/>
          </a:prstGeom>
          <a:solidFill>
            <a:srgbClr val="E4F1F0"/>
          </a:solidFill>
          <a:ln/>
        </p:spPr>
      </p:sp>
      <p:pic>
        <p:nvPicPr>
          <p:cNvPr id="16" name="Image 3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5079492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9651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Scalable, multimodal foundation for future work: multilingual support, chronic-care tracking, and EHR integration.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19" y="502920"/>
            <a:ext cx="71770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Selected literature, 2024–2025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fList"/>
          <p:cNvSpPr/>
          <p:nvPr/>
        </p:nvSpPr>
        <p:spPr>
          <a:xfrm>
            <a:off x="1554480" y="1929384"/>
            <a:ext cx="9875520" cy="4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Doshi R, Amin KS, Khosla P, et al. Quantitative evaluation of large language models to streamline radiology report impressions: a multimodal retrospective analysis. Radiology. 2024.</a:t>
            </a:r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Jeblick K, Schachtner B, Dexl J, et al. ChatGPT makes medicine easy to swallow: an exploratory case study on simplified radiology reports. Eur Radiol. 2024;34:2817–2825.</a:t>
            </a:r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Kuckelman IJ, Wetley K, Yi PH, et al. Translating musculoskeletal radiology reports into patient-friendly summaries using ChatGPT-4. Skeletal Radiol. 2024;53:1621–1624.</a:t>
            </a:r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Maroncelli R, Rizzo V, Pasculli M, et al. Probing clarity: AI-generated simplified breast imaging reports for enhanced patient comprehension powered by ChatGPT-4o. Eur Radiol Exp. 2024;8:124.</a:t>
            </a:r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Tariq A, Trivedi S, Urooj A, et al. Patient-centric summarization of radiology findings using two-step training of large language models. ACM Trans Comput Healthc. 2025;6:21.</a:t>
            </a:r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Aydin S, Karabacak M, Vlachos V, Margetis K. Large language models in patient education: a scoping review of applications in medicine. Front Med (Lausanne). 2024;11:1477898.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1025</Words>
  <Application>Microsoft Office PowerPoint</Application>
  <PresentationFormat>Widescreen</PresentationFormat>
  <Paragraphs>95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saiteja reddy pucha</cp:lastModifiedBy>
  <cp:revision>6</cp:revision>
  <dcterms:created xsi:type="dcterms:W3CDTF">2026-07-31T09:01:36Z</dcterms:created>
  <dcterms:modified xsi:type="dcterms:W3CDTF">2026-09-04T08:08:09Z</dcterms:modified>
</cp:coreProperties>
</file>